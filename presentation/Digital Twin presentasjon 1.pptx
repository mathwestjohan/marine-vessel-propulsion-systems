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1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E70"/>
    <a:srgbClr val="022975"/>
    <a:srgbClr val="587DC7"/>
    <a:srgbClr val="0D30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9267E-A609-EF42-A8B2-5A64F794D1F6}" v="1245" dt="2026-02-02T21:03:11.675"/>
    <p1510:client id="{51971085-2EB1-7F25-EBD6-190ED9183748}" v="8" dt="2026-02-02T09:17:29.844"/>
    <p1510:client id="{794BB581-29A9-62C0-02DB-277908443D04}" v="1171" dt="2026-02-02T21:02:23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D71FD-48B9-4EBF-A78C-6FDDBB4B4FF4}" type="datetimeFigureOut">
              <a:t>03.02.2026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2424-929D-4446-B387-047EA6538F0C}" type="slidenum"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0118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We must transform raw marine propulsion sensor data into a clean, consistent dataset that enables reliable analysis and predictive modelling, despite operating-regime effects and potential data-quality issues (missing values, duplicates, inconsistent readings, and outliers).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Develop a data-driven condition monitoring and predictive maintenance approach for a marine vessel propulsion system by using sensor and operating data to estimate the propulsion system’s health/degradation and provide actionable diagnostics/prognostics (early warning, trends, and maintenance-relevant status) under varying operating regimes.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52424-929D-4446-B387-047EA6538F0C}" type="slidenum"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7228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Objectives: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Build a predictive model that maps propulsion-system sensor/operating data to </a:t>
            </a:r>
            <a:r>
              <a:rPr lang="en-US" b="1"/>
              <a:t>health/degradation indicators</a:t>
            </a:r>
            <a:r>
              <a:rPr lang="en-US"/>
              <a:t> (e.g., compressor and turbine decay).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Develop a </a:t>
            </a:r>
            <a:r>
              <a:rPr lang="en-US" b="1"/>
              <a:t>reliable condition monitoring workflow</a:t>
            </a:r>
            <a:r>
              <a:rPr lang="en-US"/>
              <a:t> that works across different operating regimes and is robust to noise/outliers.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Produce </a:t>
            </a:r>
            <a:r>
              <a:rPr lang="en-US" b="1"/>
              <a:t>interpretable outputs</a:t>
            </a:r>
            <a:r>
              <a:rPr lang="en-US"/>
              <a:t> that can support maintenance decisions.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Goals: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 cleaned and documented dataset + EDA that justifies preprocessing choices.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Trained and compared ML models (≥3) with clear performance metrics and a selected “best” model.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A monitoring-style output: predicted health/decay over time, plus anomaly/outlier identification.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A concise report/presentation that explains assumptions, limitations, and how results would be used in practice.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52424-929D-4446-B387-047EA6538F0C}" type="slidenum"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3166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Histograms and boxplots are used to examine the distribution and spread of key sensors and targets, and to identify potential outliers or abnormal values.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Scatter plots allow us to assess the relationship between operating variables and system responses, and to verify that the data reflects expected physical behavior.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The correlation heatmap provides an overview of linear dependencies between variables and helps identify redundancy in the dataset.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By coloring data points according to throttle or speed setpoints, we can visually separate different operating regimes and observe whether relationships remain consistent across operating conditions.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52424-929D-4446-B387-047EA6538F0C}" type="slidenum">
              <a:rPr lang="nb-NO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3940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6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7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7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4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2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4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6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7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1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2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A32488E-53B1-D471-7543-4DF2734FA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548" y="-72711"/>
            <a:ext cx="11621464" cy="1289836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Marine Vessel Propulsion System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40DDEBC-9FA6-9F45-3496-6DA916391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547" y="795472"/>
            <a:ext cx="6958642" cy="6349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>
                <a:solidFill>
                  <a:schemeClr val="bg1"/>
                </a:solidFill>
              </a:rPr>
              <a:t>AIS4004 – </a:t>
            </a:r>
            <a:r>
              <a:rPr lang="en-US" i="1" err="1">
                <a:solidFill>
                  <a:schemeClr val="bg1"/>
                </a:solidFill>
              </a:rPr>
              <a:t>Digitale</a:t>
            </a:r>
            <a:r>
              <a:rPr lang="en-US" i="1">
                <a:solidFill>
                  <a:schemeClr val="bg1"/>
                </a:solidFill>
              </a:rPr>
              <a:t> Twins for Predictive Maintenance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9B031A30-5393-5DDC-6714-82235CCBDFAC}"/>
              </a:ext>
            </a:extLst>
          </p:cNvPr>
          <p:cNvSpPr txBox="1"/>
          <p:nvPr/>
        </p:nvSpPr>
        <p:spPr>
          <a:xfrm>
            <a:off x="287547" y="6275717"/>
            <a:ext cx="47732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>
                <a:solidFill>
                  <a:schemeClr val="bg1"/>
                </a:solidFill>
              </a:rPr>
              <a:t>Marius, Vetle, Mathias and William</a:t>
            </a:r>
          </a:p>
          <a:p>
            <a:pPr algn="ctr"/>
            <a:endParaRPr lang="en-US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3351C30D-037A-18C4-21EA-E77D6B912AF3}"/>
              </a:ext>
            </a:extLst>
          </p:cNvPr>
          <p:cNvSpPr txBox="1"/>
          <p:nvPr/>
        </p:nvSpPr>
        <p:spPr>
          <a:xfrm>
            <a:off x="284447" y="1426555"/>
            <a:ext cx="494721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>
                <a:solidFill>
                  <a:schemeClr val="bg1"/>
                </a:solidFill>
              </a:rPr>
              <a:t>Task 1: </a:t>
            </a:r>
            <a:endParaRPr lang="en-US" sz="2800" i="1">
              <a:solidFill>
                <a:schemeClr val="bg1"/>
              </a:solidFill>
              <a:ea typeface="+mn-lt"/>
              <a:cs typeface="+mn-lt"/>
            </a:endParaRPr>
          </a:p>
          <a:p>
            <a:pPr marL="457200" indent="-457200">
              <a:buFont typeface="Calibri"/>
              <a:buChar char="-"/>
            </a:pPr>
            <a:r>
              <a:rPr lang="en-US" sz="2800" i="1">
                <a:solidFill>
                  <a:schemeClr val="bg1"/>
                </a:solidFill>
                <a:ea typeface="+mn-lt"/>
                <a:cs typeface="+mn-lt"/>
              </a:rPr>
              <a:t>Problem Definition</a:t>
            </a:r>
          </a:p>
          <a:p>
            <a:pPr marL="457200" indent="-457200">
              <a:buFont typeface="Calibri"/>
              <a:buChar char="-"/>
            </a:pPr>
            <a:r>
              <a:rPr lang="en-US" sz="2800" i="1">
                <a:solidFill>
                  <a:schemeClr val="bg1"/>
                </a:solidFill>
                <a:ea typeface="+mn-lt"/>
                <a:cs typeface="+mn-lt"/>
              </a:rPr>
              <a:t>Data Preparation &amp; EDA</a:t>
            </a:r>
            <a:endParaRPr lang="en-US" sz="2800" i="1">
              <a:solidFill>
                <a:schemeClr val="bg1"/>
              </a:solidFill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0B350BFD-EE1E-D16F-CC5C-5BE389D8A0A2}"/>
              </a:ext>
            </a:extLst>
          </p:cNvPr>
          <p:cNvSpPr txBox="1"/>
          <p:nvPr/>
        </p:nvSpPr>
        <p:spPr>
          <a:xfrm>
            <a:off x="10834326" y="6494901"/>
            <a:ext cx="228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03.02.2026</a:t>
            </a:r>
          </a:p>
        </p:txBody>
      </p:sp>
    </p:spTree>
    <p:extLst>
      <p:ext uri="{BB962C8B-B14F-4D97-AF65-F5344CB8AC3E}">
        <p14:creationId xmlns:p14="http://schemas.microsoft.com/office/powerpoint/2010/main" val="2005170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A850DC-67B0-07CA-21B7-F6139E78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Problem Definition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FDAB7F0D-A22F-DB24-79AE-3071CA528075}"/>
              </a:ext>
            </a:extLst>
          </p:cNvPr>
          <p:cNvSpPr txBox="1"/>
          <p:nvPr/>
        </p:nvSpPr>
        <p:spPr>
          <a:xfrm>
            <a:off x="700635" y="2293126"/>
            <a:ext cx="667363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Use of an AI-Agent to process raw sensor data to able predicative maintenance</a:t>
            </a:r>
          </a:p>
          <a:p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Raw data --- clean data ---- Reliable analysis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Predict faults and suggest maintenance schedule</a:t>
            </a:r>
          </a:p>
        </p:txBody>
      </p:sp>
      <p:pic>
        <p:nvPicPr>
          <p:cNvPr id="2050" name="Picture 2" descr="Predictive Maintenance - SenseGrow">
            <a:extLst>
              <a:ext uri="{FF2B5EF4-FFF2-40B4-BE49-F238E27FC236}">
                <a16:creationId xmlns:a16="http://schemas.microsoft.com/office/drawing/2014/main" id="{24E02876-69B8-3024-1211-57CA7BF36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739" y="3015505"/>
            <a:ext cx="6295504" cy="354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62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5D05CAC-BAE8-5E35-13FE-FB5C6F9E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Objectives &amp; Goals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43CB1D37-A41B-FAC0-4329-E6D9997EFA24}"/>
              </a:ext>
            </a:extLst>
          </p:cNvPr>
          <p:cNvSpPr txBox="1"/>
          <p:nvPr/>
        </p:nvSpPr>
        <p:spPr>
          <a:xfrm>
            <a:off x="702441" y="1994922"/>
            <a:ext cx="1109950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Build predictive model.</a:t>
            </a:r>
            <a:endParaRPr lang="nb-NO" sz="20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Develop reliable condition monitoring workflow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Produce interpretable outputs, that supports maintenance decision.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Clean dataset.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Clear performance.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Monitoring style output.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bg1"/>
                </a:solidFill>
              </a:rPr>
              <a:t>Concise report.</a:t>
            </a:r>
          </a:p>
        </p:txBody>
      </p:sp>
    </p:spTree>
    <p:extLst>
      <p:ext uri="{BB962C8B-B14F-4D97-AF65-F5344CB8AC3E}">
        <p14:creationId xmlns:p14="http://schemas.microsoft.com/office/powerpoint/2010/main" val="149426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B58FA54-E8F9-27FB-3E14-1FBCC71B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 </a:t>
            </a:r>
            <a:r>
              <a:rPr lang="en-US" err="1">
                <a:solidFill>
                  <a:schemeClr val="bg1"/>
                </a:solidFill>
              </a:rPr>
              <a:t>visiualization</a:t>
            </a:r>
            <a:r>
              <a:rPr lang="en-US">
                <a:solidFill>
                  <a:schemeClr val="bg1"/>
                </a:solidFill>
              </a:rPr>
              <a:t> (EDA)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58E94170-E214-608E-151C-CC5E14226D25}"/>
              </a:ext>
            </a:extLst>
          </p:cNvPr>
          <p:cNvSpPr txBox="1"/>
          <p:nvPr/>
        </p:nvSpPr>
        <p:spPr>
          <a:xfrm>
            <a:off x="707310" y="1598424"/>
            <a:ext cx="764424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Distributions: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histograms + boxplots for key sensors and targets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Relationships: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scatter plots for main operating links (load/speed/torque/rpm vs fuel/temps/pressures)</a:t>
            </a:r>
          </a:p>
          <a:p>
            <a:pPr>
              <a:buFont typeface="Arial"/>
            </a:pP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Correlation overview: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correlation heatmap to spot strong dependencies and redundancy</a:t>
            </a:r>
          </a:p>
          <a:p>
            <a:pPr>
              <a:buFont typeface="Arial"/>
            </a:pP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Operating regimes: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colour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/marker by throttle/speed setpoints to separate regimes visually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5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57CE6E8-2EF8-4668-5574-418B5760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Dataset Preparation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AF8A434F-802A-04BE-88D1-C557C9490468}"/>
              </a:ext>
            </a:extLst>
          </p:cNvPr>
          <p:cNvSpPr txBox="1"/>
          <p:nvPr/>
        </p:nvSpPr>
        <p:spPr>
          <a:xfrm>
            <a:off x="707309" y="1598424"/>
            <a:ext cx="624513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Check dataset for missing values</a:t>
            </a: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Dataset is complete with no missing values</a:t>
            </a:r>
          </a:p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Checking for duplicates</a:t>
            </a: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No Duplicate values</a:t>
            </a:r>
          </a:p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200" b="1">
                <a:solidFill>
                  <a:schemeClr val="bg1"/>
                </a:solidFill>
                <a:ea typeface="+mn-lt"/>
                <a:cs typeface="+mn-lt"/>
              </a:rPr>
              <a:t>Ensure data consistency</a:t>
            </a: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Consistent number of values (1326 each speed state)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Consistent data structure 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Corresponding input/outputs</a:t>
            </a:r>
          </a:p>
          <a:p>
            <a:pPr algn="l"/>
            <a:endParaRPr lang="en-US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CD904D98-89F1-571E-DF1E-5E72E6F9F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502" y="197346"/>
            <a:ext cx="5188678" cy="3231654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12BC74E0-EAE6-E55B-13EB-0A88F918F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502" y="3429000"/>
            <a:ext cx="5188679" cy="32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39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2C48C4-1DE2-108F-4C2E-1AECAEE9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96" y="789092"/>
            <a:ext cx="10691265" cy="137103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Data </a:t>
            </a:r>
            <a:r>
              <a:rPr lang="en-US" err="1">
                <a:solidFill>
                  <a:schemeClr val="bg1"/>
                </a:solidFill>
                <a:ea typeface="+mj-lt"/>
                <a:cs typeface="+mj-lt"/>
              </a:rPr>
              <a:t>Paterns</a:t>
            </a:r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 and</a:t>
            </a:r>
            <a:br>
              <a:rPr lang="en-US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err="1">
                <a:solidFill>
                  <a:schemeClr val="bg1"/>
                </a:solidFill>
                <a:ea typeface="+mj-lt"/>
                <a:cs typeface="+mj-lt"/>
              </a:rPr>
              <a:t>consistancy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6476933-099E-C18D-F3C3-816CD0045F86}"/>
              </a:ext>
            </a:extLst>
          </p:cNvPr>
          <p:cNvSpPr txBox="1"/>
          <p:nvPr/>
        </p:nvSpPr>
        <p:spPr>
          <a:xfrm>
            <a:off x="693496" y="2160122"/>
            <a:ext cx="499240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Patterns: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Find corresponding input/outputs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When patterns break</a:t>
            </a:r>
          </a:p>
          <a:p>
            <a:pPr marL="285750" indent="-285750">
              <a:buFont typeface="Arial"/>
              <a:buChar char="•"/>
            </a:pP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Outliers we look for: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Isolated spikes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in single sensors (likely measurement glitches)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Points that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break the main trend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in scatter plots (abnormal operating points)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Inconsistent paired signals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(e.g., port vs starboard where applicable)</a:t>
            </a:r>
          </a:p>
          <a:p>
            <a:pPr algn="l"/>
            <a:endParaRPr lang="en-US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BD202CE8-191B-A0CD-2E87-7DE4D3713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155614"/>
            <a:ext cx="6061825" cy="3273386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0A46F631-6887-385F-223D-F60D65964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3429000"/>
            <a:ext cx="6061825" cy="32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9245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7" baseType="lpstr">
      <vt:lpstr>ChronicleVTI</vt:lpstr>
      <vt:lpstr>Marine Vessel Propulsion System</vt:lpstr>
      <vt:lpstr>Problem Definition</vt:lpstr>
      <vt:lpstr>Objectives &amp; Goals</vt:lpstr>
      <vt:lpstr>Data visiualization (EDA)</vt:lpstr>
      <vt:lpstr>Dataset Preparation</vt:lpstr>
      <vt:lpstr>Data Paterns and consistancy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Haugland</dc:creator>
  <cp:revision>2</cp:revision>
  <dcterms:created xsi:type="dcterms:W3CDTF">2026-01-30T11:58:34Z</dcterms:created>
  <dcterms:modified xsi:type="dcterms:W3CDTF">2026-02-03T12:31:11Z</dcterms:modified>
</cp:coreProperties>
</file>